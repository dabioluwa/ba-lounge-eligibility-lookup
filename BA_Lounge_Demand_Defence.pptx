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778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Defending the lounge eligibility model - Heathrow Terminal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D8E6"/>
                </a:solidFill>
                <a:latin typeface="Calibri"/>
              </a:rPr>
              <a:t>Route Group x Time Band lookup, calibrated on the 10,000-flight BA Summer 2025 schedule (LHR) | tiers mutually exclusive - each passenger counted at their highest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1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2D4D"/>
                </a:solidFill>
                <a:latin typeface="Calibri"/>
              </a:rPr>
              <a:t>THE RESULT: verified eligibility ranges across the day (% of boarded pax)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572768"/>
          <a:ext cx="608076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960120"/>
                <a:gridCol w="960120"/>
                <a:gridCol w="96012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Route group</a:t>
                      </a:r>
                    </a:p>
                  </a:txBody>
                  <a:tcPr anchor="ctr" marL="54864" marR="54864">
                    <a:solidFill>
                      <a:srgbClr val="0B2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Tier 1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Concorde</a:t>
                      </a:r>
                    </a:p>
                  </a:txBody>
                  <a:tcPr anchor="ctr" marL="54864" marR="54864">
                    <a:solidFill>
                      <a:srgbClr val="0B2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Tier 2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First</a:t>
                      </a:r>
                    </a:p>
                  </a:txBody>
                  <a:tcPr anchor="ctr" marL="54864" marR="54864">
                    <a:solidFill>
                      <a:srgbClr val="0B2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Tier 3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Club</a:t>
                      </a:r>
                    </a:p>
                  </a:txBody>
                  <a:tcPr anchor="ctr" marL="54864" marR="54864">
                    <a:solidFill>
                      <a:srgbClr val="0B2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eligible</a:t>
                      </a:r>
                    </a:p>
                  </a:txBody>
                  <a:tcPr anchor="ctr" marL="54864" marR="54864">
                    <a:solidFill>
                      <a:srgbClr val="0B2D4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2D4D"/>
                          </a:solidFill>
                          <a:latin typeface="Calibri"/>
                        </a:rPr>
                        <a:t>Europe &amp; Domestic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5.1 - 5.2%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19.6 - 19.9%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Calibri"/>
                        </a:rPr>
                        <a:t>25.1 - 25.5%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2D4D"/>
                          </a:solidFill>
                          <a:latin typeface="Calibri"/>
                        </a:rPr>
                        <a:t>North America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3.2 - 3.3%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12.3 - 12.7%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Calibri"/>
                        </a:rPr>
                        <a:t>15.7 - 16.2%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2D4D"/>
                          </a:solidFill>
                          <a:latin typeface="Calibri"/>
                        </a:rPr>
                        <a:t>Asia &amp; Oceania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0.2 - 0.3%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12.1 - 12.4%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Calibri"/>
                        </a:rPr>
                        <a:t>15.5 - 15.9%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2D4D"/>
                          </a:solidFill>
                          <a:latin typeface="Calibri"/>
                        </a:rPr>
                        <a:t>Middle East &amp; Africa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3.0 - 3.3%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11.7 - 12.5%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Calibri"/>
                        </a:rPr>
                        <a:t>14.9 - 16.0%</a:t>
                      </a:r>
                    </a:p>
                  </a:txBody>
                  <a:tcPr anchor="ctr" marL="54864" marR="54864">
                    <a:solidFill>
                      <a:srgbClr val="EAF0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2D4D"/>
                          </a:solidFill>
                          <a:latin typeface="Calibri"/>
                        </a:rPr>
                        <a:t>South America*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2.9 - 3.0%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11.3 - 11.8%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Calibri"/>
                        </a:rPr>
                        <a:t>14.4 - 15.0%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462272"/>
            <a:ext cx="6126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Calibri"/>
              </a:rPr>
              <a:t>Bands: early 06:00-09:59 | midday 10:00-15:59 | evening 16:00-22:59 (verified rate per band; 85% load factor). * South America absent from the dataset - re-based on verified long-haul rates.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95959"/>
                </a:solidFill>
                <a:latin typeface="Calibri"/>
              </a:rPr>
              <a:t>Tier 1 is hypothetical: no Concorde Room at T3 today - shown to inform whether a Tier 1 space may be needed in future.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138928"/>
            <a:ext cx="6080760" cy="1298448"/>
          </a:xfrm>
          <a:prstGeom prst="rect">
            <a:avLst/>
          </a:prstGeom>
          <a:solidFill>
            <a:srgbClr val="EAF0F6"/>
          </a:solidFill>
          <a:ln w="12700">
            <a:solidFill>
              <a:srgbClr val="B8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5202936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B10E1E"/>
                </a:solidFill>
                <a:latin typeface="Calibri"/>
              </a:rPr>
              <a:t>APPLIED TO A REPRESENTATIVE SCHEDULE DAY (18 JUN 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5468112"/>
            <a:ext cx="5852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2D4D"/>
                </a:solidFill>
                <a:latin typeface="Calibri"/>
              </a:rPr>
              <a:t>44 LHR departures, all 4 regions | 10,471 seats -&gt; 8,901 passengers at 85% LF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Recommended: 1,713 eligible vs 1,557 actual (+10.0%) | T1 30 / T2 352 / T3 1,331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Calibri"/>
              </a:rPr>
              <a:t>Baseline said 2,281 (+46%) - recalibration closed most of the gap; live SUMIFS updates on any schedule swap.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234440"/>
            <a:ext cx="50593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2D4D"/>
                </a:solidFill>
                <a:latin typeface="Calibri"/>
              </a:rPr>
              <a:t>WHY THE GROUPINGS HOLD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572768"/>
            <a:ext cx="5059375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Route, not clock, drives demand: verified eligibility spans 14.9-25.5% between route groups but at most 1.1pp between time bands within a group - grouping by destination is the right axis, bands add fine-tuning.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Built from BA's access rules: Tier 1 = First + premier card status, Tier 2 = Gold, Tier 3 = Club + Silver; every passenger counted once at their highest tier - no double counting.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Every rate is evidence-backed: category aggregates over 10,000 flights (153-2,491 flights per cell across a full summer season), not single-flight guesses.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Survives schedule change: no flight numbers or aircraft types - any future schedule maps to the same 15 cells.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977639"/>
            <a:ext cx="50593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2D4D"/>
                </a:solidFill>
                <a:latin typeface="Calibri"/>
              </a:rPr>
              <a:t>VALIDATION, SENSITIVITY &amp; 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315968"/>
            <a:ext cx="5059375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Back-tested on real data: baseline assumptions ran +46% on the sample day; after recalibration the lookup lands within +10% (+156 pax) of schedule actuals.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Sensitivity: eligibility scales linearly - a plus/minus 10pc error on Tier 3 moves the sample day by about plus/minus 133 passengers, roughly 3 per flight, which the lounges can absorb at quieter times.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 Assumptions to keep watching: 85% load factor (schedule shows seats only) and Tier 1 volumes (15-30 a day) - the model treats a Tier 1/Concorde space at T3 as hypothetical, sized to inform a future decision.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9D8E6"/>
                </a:solidFill>
                <a:latin typeface="Calibri"/>
              </a:rPr>
              <a:t>Source: BA lounge eligibility lookup (Route Group x Time Band), LHR T3 - deliverable: BA_Lounge_Eligibility_Lookup_T3.xlsx | Airport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